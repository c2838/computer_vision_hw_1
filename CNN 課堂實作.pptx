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10287000" cx="18288000"/>
  <p:notesSz cx="6858000" cy="9144000"/>
  <p:embeddedFontLst>
    <p:embeddedFont>
      <p:font typeface="Noto Sans TC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8" roundtripDataSignature="AMtx7miur1gVLMo5NRo7vjdN0WWffEyPS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B15869E-E913-401A-BFEA-273718A83E7D}">
  <a:tblStyle styleId="{EB15869E-E913-401A-BFEA-273718A83E7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NotoSansTC-bold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8" Type="http://customschemas.google.com/relationships/presentationmetadata" Target="meta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5415677" y="4274503"/>
            <a:ext cx="7456647" cy="1566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00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CNN 課堂實作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/>
          <p:nvPr/>
        </p:nvSpPr>
        <p:spPr>
          <a:xfrm>
            <a:off x="6019800" y="4305300"/>
            <a:ext cx="8812883" cy="5356850"/>
          </a:xfrm>
          <a:custGeom>
            <a:rect b="b" l="l" r="r" t="t"/>
            <a:pathLst>
              <a:path extrusionOk="0" h="5356850" w="8812883">
                <a:moveTo>
                  <a:pt x="0" y="0"/>
                </a:moveTo>
                <a:lnTo>
                  <a:pt x="8812883" y="0"/>
                </a:lnTo>
                <a:lnTo>
                  <a:pt x="8812883" y="5356850"/>
                </a:lnTo>
                <a:lnTo>
                  <a:pt x="0" y="53568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0" name="Google Shape;90;p2"/>
          <p:cNvSpPr txBox="1"/>
          <p:nvPr/>
        </p:nvSpPr>
        <p:spPr>
          <a:xfrm>
            <a:off x="1216550" y="537527"/>
            <a:ext cx="4041249" cy="861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99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作業目的</a:t>
            </a:r>
            <a:endParaRPr b="1" i="0" sz="5199" u="none" cap="none" strike="noStrike">
              <a:solidFill>
                <a:srgbClr val="000000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91" name="Google Shape;91;p2"/>
          <p:cNvSpPr txBox="1"/>
          <p:nvPr/>
        </p:nvSpPr>
        <p:spPr>
          <a:xfrm>
            <a:off x="1216551" y="2077572"/>
            <a:ext cx="13300645" cy="8248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本次作業將使用 PyTorch 或 Keras 建立一個 Convolutional Neural Network（CNN），並使用 MNIST handwritten digit 資料集進行影像分類。</a:t>
            </a:r>
            <a:endParaRPr/>
          </a:p>
        </p:txBody>
      </p:sp>
      <p:sp>
        <p:nvSpPr>
          <p:cNvPr id="92" name="Google Shape;92;p2"/>
          <p:cNvSpPr txBox="1"/>
          <p:nvPr/>
        </p:nvSpPr>
        <p:spPr>
          <a:xfrm>
            <a:off x="1216551" y="3276121"/>
            <a:ext cx="13300645" cy="8248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59080" lvl="1" marL="51816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FF3131"/>
                </a:solidFill>
                <a:latin typeface="Noto Sans TC"/>
                <a:ea typeface="Noto Sans TC"/>
                <a:cs typeface="Noto Sans TC"/>
                <a:sym typeface="Noto Sans TC"/>
              </a:rPr>
              <a:t>可自行選擇 PyTorch 或 Keras 實作，評分以模型流程、實作結果與題目要求之輸出為主，不以使用之框架作為評分依據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/>
          <p:nvPr/>
        </p:nvSpPr>
        <p:spPr>
          <a:xfrm>
            <a:off x="1325675" y="537527"/>
            <a:ext cx="9818947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99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Notebook 使用說明與繳交規範</a:t>
            </a:r>
            <a:endParaRPr/>
          </a:p>
        </p:txBody>
      </p:sp>
      <p:sp>
        <p:nvSpPr>
          <p:cNvPr id="98" name="Google Shape;98;p3"/>
          <p:cNvSpPr txBox="1"/>
          <p:nvPr/>
        </p:nvSpPr>
        <p:spPr>
          <a:xfrm>
            <a:off x="1325675" y="1988891"/>
            <a:ext cx="13300645" cy="405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本次作業請使用 Jupyter Notebook（.ipynb） 完成。</a:t>
            </a:r>
            <a:endParaRPr/>
          </a:p>
        </p:txBody>
      </p:sp>
      <p:sp>
        <p:nvSpPr>
          <p:cNvPr id="99" name="Google Shape;99;p3"/>
          <p:cNvSpPr txBox="1"/>
          <p:nvPr/>
        </p:nvSpPr>
        <p:spPr>
          <a:xfrm>
            <a:off x="1325675" y="3388135"/>
            <a:ext cx="13300645" cy="3339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59082" lvl="1" marL="518165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請依照 Part 1 ～ Part 5 的順序完成作業</a:t>
            </a:r>
            <a:endParaRPr/>
          </a:p>
          <a:p>
            <a:pPr indent="-259082" lvl="1" marL="518165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每個 Part 請使用適當的 Markdown Cell 標示標題與必要說明</a:t>
            </a:r>
            <a:endParaRPr/>
          </a:p>
          <a:p>
            <a:pPr indent="-259082" lvl="1" marL="518165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程式執行結果請直接保留於 Notebook 中</a:t>
            </a:r>
            <a:endParaRPr/>
          </a:p>
          <a:p>
            <a:pPr indent="-259082" lvl="1" marL="518165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繳交前請確認所有 Cell 均可依序正常執行</a:t>
            </a:r>
            <a:endParaRPr/>
          </a:p>
          <a:p>
            <a:pPr indent="-259082" lvl="1" marL="518165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建議繳交前執行一次 Restart Kernel and Run All，確認 Notebook 可由上至下完整執行</a:t>
            </a:r>
            <a:endParaRPr/>
          </a:p>
          <a:p>
            <a:pPr indent="-259082" lvl="1" marL="518165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請避免程式依賴未執行的 Cell、暫存變數或個人電腦特定路徑</a:t>
            </a:r>
            <a:endParaRPr/>
          </a:p>
          <a:p>
            <a:pPr indent="-259082" lvl="1" marL="518165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檔案命名為「 [學號]CNN課堂練習.ipynb」。 ex. [7115000000]CNN 課堂練習.ipynb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100" name="Google Shape;100;p3"/>
          <p:cNvSpPr txBox="1"/>
          <p:nvPr/>
        </p:nvSpPr>
        <p:spPr>
          <a:xfrm>
            <a:off x="1325675" y="2673125"/>
            <a:ext cx="13300645" cy="4387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99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繳交與執行規範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 txBox="1"/>
          <p:nvPr/>
        </p:nvSpPr>
        <p:spPr>
          <a:xfrm>
            <a:off x="1216551" y="799952"/>
            <a:ext cx="9144000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99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Part1 Data Preparation</a:t>
            </a:r>
            <a:endParaRPr/>
          </a:p>
        </p:txBody>
      </p:sp>
      <p:sp>
        <p:nvSpPr>
          <p:cNvPr id="106" name="Google Shape;106;p4"/>
          <p:cNvSpPr txBox="1"/>
          <p:nvPr/>
        </p:nvSpPr>
        <p:spPr>
          <a:xfrm>
            <a:off x="1216551" y="2077572"/>
            <a:ext cx="13300645" cy="4057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完成 MNIST Dataset 的讀取與資料前處理</a:t>
            </a:r>
            <a:endParaRPr/>
          </a:p>
        </p:txBody>
      </p:sp>
      <p:sp>
        <p:nvSpPr>
          <p:cNvPr id="107" name="Google Shape;107;p4"/>
          <p:cNvSpPr txBox="1"/>
          <p:nvPr/>
        </p:nvSpPr>
        <p:spPr>
          <a:xfrm>
            <a:off x="1216551" y="3582360"/>
            <a:ext cx="15273801" cy="25012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59082" lvl="1" marL="518165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載入 MNIST Dataset</a:t>
            </a:r>
            <a:endParaRPr/>
          </a:p>
          <a:p>
            <a:pPr indent="-259082" lvl="1" marL="518165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FF3131"/>
                </a:solidFill>
                <a:latin typeface="Noto Sans TC"/>
                <a:ea typeface="Noto Sans TC"/>
                <a:cs typeface="Noto Sans TC"/>
                <a:sym typeface="Noto Sans TC"/>
              </a:rPr>
              <a:t>MNIST Dataset 須由程式自動下載與載入，並使用相對路徑。不得依賴個人電腦特定位置或手動放置的資料</a:t>
            </a:r>
            <a:endParaRPr/>
          </a:p>
          <a:p>
            <a:pPr indent="-259082" lvl="1" marL="518165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將影像轉換為模型可使用的資料格式，並進行必要的資料型態轉換</a:t>
            </a:r>
            <a:endParaRPr/>
          </a:p>
          <a:p>
            <a:pPr indent="-259082" lvl="1" marL="518165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對影像進行 Normalize</a:t>
            </a:r>
            <a:endParaRPr/>
          </a:p>
          <a:p>
            <a:pPr indent="-259082" lvl="1" marL="518165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將 MNIST 原始 Training Set 劃分為 Training Set 與 Validation Set，並使用原始 Test Set 作為 Test Set</a:t>
            </a:r>
            <a:endParaRPr/>
          </a:p>
          <a:p>
            <a:pPr indent="-259082" lvl="1" marL="518165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建立 Training、Validation、Test 所需的 mini-batch 資料讀取流程</a:t>
            </a:r>
            <a:endParaRPr/>
          </a:p>
        </p:txBody>
      </p:sp>
      <p:sp>
        <p:nvSpPr>
          <p:cNvPr id="108" name="Google Shape;108;p4"/>
          <p:cNvSpPr txBox="1"/>
          <p:nvPr/>
        </p:nvSpPr>
        <p:spPr>
          <a:xfrm>
            <a:off x="1216551" y="2874901"/>
            <a:ext cx="13300645" cy="4387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99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工作細項</a:t>
            </a:r>
            <a:endParaRPr/>
          </a:p>
        </p:txBody>
      </p:sp>
      <p:sp>
        <p:nvSpPr>
          <p:cNvPr id="109" name="Google Shape;109;p4"/>
          <p:cNvSpPr txBox="1"/>
          <p:nvPr/>
        </p:nvSpPr>
        <p:spPr>
          <a:xfrm>
            <a:off x="1216551" y="6907574"/>
            <a:ext cx="133005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99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輸出</a:t>
            </a:r>
            <a:endParaRPr/>
          </a:p>
        </p:txBody>
      </p:sp>
      <p:sp>
        <p:nvSpPr>
          <p:cNvPr id="110" name="Google Shape;110;p4"/>
          <p:cNvSpPr txBox="1"/>
          <p:nvPr/>
        </p:nvSpPr>
        <p:spPr>
          <a:xfrm>
            <a:off x="1216551" y="7517175"/>
            <a:ext cx="16493100" cy="14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59080" lvl="1" marL="51816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Training / Validation / Test 的資料數量</a:t>
            </a:r>
            <a:endParaRPr/>
          </a:p>
          <a:p>
            <a:pPr indent="-259080" lvl="1" marL="51816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一個 batch 的 image shape 與 label shape</a:t>
            </a:r>
            <a:endParaRPr/>
          </a:p>
          <a:p>
            <a:pPr indent="-259080" lvl="1" marL="51816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顯示 5 張 MNIST 圖片及其 Ground Truth Label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"/>
          <p:cNvSpPr txBox="1"/>
          <p:nvPr/>
        </p:nvSpPr>
        <p:spPr>
          <a:xfrm>
            <a:off x="1216551" y="723752"/>
            <a:ext cx="6962347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99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Part2  CNN Model</a:t>
            </a:r>
            <a:endParaRPr/>
          </a:p>
        </p:txBody>
      </p:sp>
      <p:sp>
        <p:nvSpPr>
          <p:cNvPr id="116" name="Google Shape;116;p5"/>
          <p:cNvSpPr txBox="1"/>
          <p:nvPr/>
        </p:nvSpPr>
        <p:spPr>
          <a:xfrm>
            <a:off x="1216551" y="2077572"/>
            <a:ext cx="13300645" cy="4057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請使用 PyTorch 或 Keras 自行設計一個 Convolutional Neural Network（CNN）。</a:t>
            </a:r>
            <a:endParaRPr/>
          </a:p>
        </p:txBody>
      </p:sp>
      <p:sp>
        <p:nvSpPr>
          <p:cNvPr id="117" name="Google Shape;117;p5"/>
          <p:cNvSpPr txBox="1"/>
          <p:nvPr/>
        </p:nvSpPr>
        <p:spPr>
          <a:xfrm>
            <a:off x="1216551" y="3582360"/>
            <a:ext cx="13300645" cy="29203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59082" lvl="1" marL="518165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模型架構可自行設定，但至少須包含：</a:t>
            </a:r>
            <a:endParaRPr/>
          </a:p>
          <a:p>
            <a:pPr indent="-345443" lvl="2" marL="103633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⚬"/>
            </a:pPr>
            <a:r>
              <a:rPr b="0" i="0" lang="en-US" sz="2400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至少一層 2D Convolution Layer</a:t>
            </a:r>
            <a:endParaRPr/>
          </a:p>
          <a:p>
            <a:pPr indent="-345443" lvl="2" marL="103633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⚬"/>
            </a:pPr>
            <a:r>
              <a:rPr b="0" i="0" lang="en-US" sz="2400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Non-linear Activation Function，例如 ReLU</a:t>
            </a:r>
            <a:endParaRPr/>
          </a:p>
          <a:p>
            <a:pPr indent="-345443" lvl="2" marL="103633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⚬"/>
            </a:pPr>
            <a:r>
              <a:rPr b="0" i="0" lang="en-US" sz="2400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至少一層 Pooling Layer</a:t>
            </a:r>
            <a:endParaRPr/>
          </a:p>
          <a:p>
            <a:pPr indent="-345443" lvl="2" marL="103633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⚬"/>
            </a:pPr>
            <a:r>
              <a:rPr b="0" i="0" lang="en-US" sz="2400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Fully Connected Layer</a:t>
            </a:r>
            <a:endParaRPr/>
          </a:p>
          <a:p>
            <a:pPr indent="-259082" lvl="1" marL="518165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最終輸出為 10 個類別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118" name="Google Shape;118;p5"/>
          <p:cNvSpPr txBox="1"/>
          <p:nvPr/>
        </p:nvSpPr>
        <p:spPr>
          <a:xfrm>
            <a:off x="1216551" y="2874901"/>
            <a:ext cx="13300645" cy="4387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99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工作細項</a:t>
            </a:r>
            <a:endParaRPr/>
          </a:p>
        </p:txBody>
      </p:sp>
      <p:sp>
        <p:nvSpPr>
          <p:cNvPr id="119" name="Google Shape;119;p5"/>
          <p:cNvSpPr txBox="1"/>
          <p:nvPr/>
        </p:nvSpPr>
        <p:spPr>
          <a:xfrm>
            <a:off x="1216551" y="7019394"/>
            <a:ext cx="133005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99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輸出</a:t>
            </a:r>
            <a:endParaRPr/>
          </a:p>
        </p:txBody>
      </p:sp>
      <p:sp>
        <p:nvSpPr>
          <p:cNvPr id="120" name="Google Shape;120;p5"/>
          <p:cNvSpPr txBox="1"/>
          <p:nvPr/>
        </p:nvSpPr>
        <p:spPr>
          <a:xfrm>
            <a:off x="1216551" y="7724880"/>
            <a:ext cx="164931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59080" lvl="1" marL="51816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請輸出完整的模型架構</a:t>
            </a:r>
            <a:endParaRPr/>
          </a:p>
          <a:p>
            <a:pPr indent="-345440" lvl="2" marL="103632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⚬"/>
            </a:pPr>
            <a:r>
              <a:rPr b="0" i="0" lang="en-US" sz="2400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每一層的 LayerName 和 Output Shape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/>
          <p:nvPr/>
        </p:nvSpPr>
        <p:spPr>
          <a:xfrm>
            <a:off x="1216551" y="799952"/>
            <a:ext cx="7866873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99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Part3  CNN Training</a:t>
            </a:r>
            <a:endParaRPr/>
          </a:p>
        </p:txBody>
      </p:sp>
      <p:sp>
        <p:nvSpPr>
          <p:cNvPr id="126" name="Google Shape;126;p6"/>
          <p:cNvSpPr txBox="1"/>
          <p:nvPr/>
        </p:nvSpPr>
        <p:spPr>
          <a:xfrm>
            <a:off x="1216551" y="2077572"/>
            <a:ext cx="13300645" cy="4057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完成 CNN Training</a:t>
            </a:r>
            <a:endParaRPr/>
          </a:p>
        </p:txBody>
      </p:sp>
      <p:sp>
        <p:nvSpPr>
          <p:cNvPr id="127" name="Google Shape;127;p6"/>
          <p:cNvSpPr txBox="1"/>
          <p:nvPr/>
        </p:nvSpPr>
        <p:spPr>
          <a:xfrm>
            <a:off x="1028700" y="3524102"/>
            <a:ext cx="13300645" cy="4596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59082" lvl="1" marL="518165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完成 CNN 模型訓練，訓練流程須包含：</a:t>
            </a:r>
            <a:endParaRPr/>
          </a:p>
          <a:p>
            <a:pPr indent="-345443" lvl="2" marL="103633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⚬"/>
            </a:pPr>
            <a:r>
              <a:rPr b="0" i="0" lang="en-US" sz="2400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Forward Propagation</a:t>
            </a:r>
            <a:endParaRPr/>
          </a:p>
          <a:p>
            <a:pPr indent="-345443" lvl="2" marL="103633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⚬"/>
            </a:pPr>
            <a:r>
              <a:rPr b="0" i="0" lang="en-US" sz="2400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Loss Calculation</a:t>
            </a:r>
            <a:endParaRPr/>
          </a:p>
          <a:p>
            <a:pPr indent="-345443" lvl="2" marL="103633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⚬"/>
            </a:pPr>
            <a:r>
              <a:rPr b="0" i="0" lang="en-US" sz="2400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Backward Propagation</a:t>
            </a:r>
            <a:endParaRPr/>
          </a:p>
          <a:p>
            <a:pPr indent="-345443" lvl="2" marL="103633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⚬"/>
            </a:pPr>
            <a:r>
              <a:rPr b="0" i="0" lang="en-US" sz="2400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Parameter Update</a:t>
            </a:r>
            <a:endParaRPr/>
          </a:p>
          <a:p>
            <a:pPr indent="-259082" lvl="1" marL="518165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可自行選擇：</a:t>
            </a:r>
            <a:endParaRPr/>
          </a:p>
          <a:p>
            <a:pPr indent="-345443" lvl="2" marL="103633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⚬"/>
            </a:pPr>
            <a:r>
              <a:rPr b="0" i="0" lang="en-US" sz="2400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Loss Function：使用適合 Multi-class Classification 的 Loss Function</a:t>
            </a:r>
            <a:endParaRPr/>
          </a:p>
          <a:p>
            <a:pPr indent="-345443" lvl="2" marL="103633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⚬"/>
            </a:pPr>
            <a:r>
              <a:rPr b="0" i="0" lang="en-US" sz="2400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Optimizer：SGD、Adam 或其他 PyTorch Optimizer</a:t>
            </a:r>
            <a:endParaRPr/>
          </a:p>
          <a:p>
            <a:pPr indent="-259082" lvl="1" marL="518165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訓練 Epoch 數可自行決定，但至少訓練 10 Epochs</a:t>
            </a:r>
            <a:endParaRPr/>
          </a:p>
          <a:p>
            <a:pPr indent="-259082" lvl="1" marL="518165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保留表現最佳的模型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128" name="Google Shape;128;p6"/>
          <p:cNvSpPr txBox="1"/>
          <p:nvPr/>
        </p:nvSpPr>
        <p:spPr>
          <a:xfrm>
            <a:off x="1216551" y="2874901"/>
            <a:ext cx="13300645" cy="4387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99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工作細項</a:t>
            </a:r>
            <a:endParaRPr/>
          </a:p>
        </p:txBody>
      </p:sp>
      <p:sp>
        <p:nvSpPr>
          <p:cNvPr id="129" name="Google Shape;129;p6"/>
          <p:cNvSpPr txBox="1"/>
          <p:nvPr/>
        </p:nvSpPr>
        <p:spPr>
          <a:xfrm>
            <a:off x="10041417" y="2874901"/>
            <a:ext cx="4893784" cy="4387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99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輸出</a:t>
            </a:r>
            <a:endParaRPr/>
          </a:p>
        </p:txBody>
      </p:sp>
      <p:sp>
        <p:nvSpPr>
          <p:cNvPr id="130" name="Google Shape;130;p6"/>
          <p:cNvSpPr txBox="1"/>
          <p:nvPr/>
        </p:nvSpPr>
        <p:spPr>
          <a:xfrm>
            <a:off x="10041417" y="3445726"/>
            <a:ext cx="7408384" cy="25805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59080" lvl="1" marL="51816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每個 Epoch 的</a:t>
            </a:r>
            <a:endParaRPr/>
          </a:p>
          <a:p>
            <a:pPr indent="-345440" lvl="2" marL="103632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⚬"/>
            </a:pPr>
            <a:r>
              <a:rPr b="0" i="0" lang="en-US" sz="2400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Training Loss</a:t>
            </a:r>
            <a:endParaRPr/>
          </a:p>
          <a:p>
            <a:pPr indent="-345440" lvl="2" marL="103632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⚬"/>
            </a:pPr>
            <a:r>
              <a:rPr b="0" i="0" lang="en-US" sz="2400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Training Accuracy</a:t>
            </a:r>
            <a:endParaRPr/>
          </a:p>
          <a:p>
            <a:pPr indent="-345440" lvl="2" marL="103632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⚬"/>
            </a:pPr>
            <a:r>
              <a:rPr b="0" i="0" lang="en-US" sz="2400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Validation Loss</a:t>
            </a:r>
            <a:endParaRPr/>
          </a:p>
          <a:p>
            <a:pPr indent="-345440" lvl="2" marL="103632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⚬"/>
            </a:pPr>
            <a:r>
              <a:rPr b="0" i="0" lang="en-US" sz="2400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Validation Accuracy</a:t>
            </a:r>
            <a:endParaRPr/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"/>
          <p:cNvSpPr txBox="1"/>
          <p:nvPr/>
        </p:nvSpPr>
        <p:spPr>
          <a:xfrm>
            <a:off x="1028700" y="799952"/>
            <a:ext cx="8868992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99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Part4  Training Curve</a:t>
            </a:r>
            <a:endParaRPr/>
          </a:p>
        </p:txBody>
      </p:sp>
      <p:sp>
        <p:nvSpPr>
          <p:cNvPr id="136" name="Google Shape;136;p7"/>
          <p:cNvSpPr txBox="1"/>
          <p:nvPr/>
        </p:nvSpPr>
        <p:spPr>
          <a:xfrm>
            <a:off x="1216626" y="1602185"/>
            <a:ext cx="1330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繪製  Training Curve</a:t>
            </a:r>
            <a:endParaRPr/>
          </a:p>
        </p:txBody>
      </p:sp>
      <p:sp>
        <p:nvSpPr>
          <p:cNvPr id="137" name="Google Shape;137;p7"/>
          <p:cNvSpPr txBox="1"/>
          <p:nvPr/>
        </p:nvSpPr>
        <p:spPr>
          <a:xfrm>
            <a:off x="1122700" y="2626310"/>
            <a:ext cx="13300500" cy="60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5443" lvl="2" marL="103633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⚬"/>
            </a:pPr>
            <a:r>
              <a:rPr b="0" i="0" lang="en-US" sz="2400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根據 Part 3 所記錄的 Training 與 Validation 結果，繪製模型的學習曲線</a:t>
            </a:r>
            <a:endParaRPr/>
          </a:p>
          <a:p>
            <a:pPr indent="-345443" lvl="2" marL="103633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⚬"/>
            </a:pPr>
            <a:r>
              <a:rPr b="0" i="0" lang="en-US" sz="2400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Figure 1：Loss Curve，要包含</a:t>
            </a:r>
            <a:endParaRPr/>
          </a:p>
          <a:p>
            <a:pPr indent="-388624" lvl="3" marL="1554495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￭"/>
            </a:pPr>
            <a:r>
              <a:rPr b="0" i="0" lang="en-US" sz="2400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Training Loss</a:t>
            </a:r>
            <a:endParaRPr/>
          </a:p>
          <a:p>
            <a:pPr indent="-388624" lvl="3" marL="1554495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￭"/>
            </a:pPr>
            <a:r>
              <a:rPr b="0" i="0" lang="en-US" sz="2400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Validation Loss</a:t>
            </a:r>
            <a:endParaRPr/>
          </a:p>
          <a:p>
            <a:pPr indent="-388624" lvl="3" marL="1554495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￭"/>
            </a:pPr>
            <a:r>
              <a:rPr b="0" i="0" lang="en-US" sz="2400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X-axis：Epoch</a:t>
            </a:r>
            <a:endParaRPr/>
          </a:p>
          <a:p>
            <a:pPr indent="-388624" lvl="3" marL="1554495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￭"/>
            </a:pPr>
            <a:r>
              <a:rPr b="0" i="0" lang="en-US" sz="2400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Y-axis：Loss</a:t>
            </a:r>
            <a:endParaRPr/>
          </a:p>
          <a:p>
            <a:pPr indent="-345443" lvl="2" marL="103633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⚬"/>
            </a:pPr>
            <a:r>
              <a:rPr b="0" i="0" lang="en-US" sz="2400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Figure 2：Accuracy Curve，要包含</a:t>
            </a:r>
            <a:endParaRPr/>
          </a:p>
          <a:p>
            <a:pPr indent="-388624" lvl="3" marL="1554495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￭"/>
            </a:pPr>
            <a:r>
              <a:rPr b="0" i="0" lang="en-US" sz="2400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Training Accuracy</a:t>
            </a:r>
            <a:endParaRPr/>
          </a:p>
          <a:p>
            <a:pPr indent="-388624" lvl="3" marL="1554495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￭"/>
            </a:pPr>
            <a:r>
              <a:rPr b="0" i="0" lang="en-US" sz="2400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Validation Accuracy</a:t>
            </a:r>
            <a:endParaRPr/>
          </a:p>
          <a:p>
            <a:pPr indent="-388624" lvl="3" marL="1554495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￭"/>
            </a:pPr>
            <a:r>
              <a:rPr b="0" i="0" lang="en-US" sz="2400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X-axis：Epoch</a:t>
            </a:r>
            <a:endParaRPr/>
          </a:p>
          <a:p>
            <a:pPr indent="-388624" lvl="3" marL="1554495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￭"/>
            </a:pPr>
            <a:r>
              <a:rPr b="0" i="0" lang="en-US" sz="2400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Y-axis：Accuracy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138" name="Google Shape;138;p7"/>
          <p:cNvSpPr txBox="1"/>
          <p:nvPr/>
        </p:nvSpPr>
        <p:spPr>
          <a:xfrm>
            <a:off x="1310551" y="2085964"/>
            <a:ext cx="133005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99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工作細項</a:t>
            </a:r>
            <a:endParaRPr/>
          </a:p>
        </p:txBody>
      </p:sp>
      <p:sp>
        <p:nvSpPr>
          <p:cNvPr id="139" name="Google Shape;139;p7"/>
          <p:cNvSpPr txBox="1"/>
          <p:nvPr/>
        </p:nvSpPr>
        <p:spPr>
          <a:xfrm>
            <a:off x="1216551" y="8117543"/>
            <a:ext cx="13300645" cy="4387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99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輸出</a:t>
            </a:r>
            <a:endParaRPr/>
          </a:p>
        </p:txBody>
      </p:sp>
      <p:sp>
        <p:nvSpPr>
          <p:cNvPr id="140" name="Google Shape;140;p7"/>
          <p:cNvSpPr txBox="1"/>
          <p:nvPr/>
        </p:nvSpPr>
        <p:spPr>
          <a:xfrm>
            <a:off x="1216551" y="8688367"/>
            <a:ext cx="16493167" cy="1663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59080" lvl="1" marL="51816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Training / Validation Loss Curve</a:t>
            </a:r>
            <a:endParaRPr/>
          </a:p>
          <a:p>
            <a:pPr indent="-259080" lvl="1" marL="51816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Training / Validation Accuracy Curve</a:t>
            </a:r>
            <a:endParaRPr/>
          </a:p>
          <a:p>
            <a:pPr indent="-259080" lvl="1" marL="51816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共 2 張圖、 4 條曲線</a:t>
            </a:r>
            <a:endParaRPr/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"/>
          <p:cNvSpPr txBox="1"/>
          <p:nvPr/>
        </p:nvSpPr>
        <p:spPr>
          <a:xfrm>
            <a:off x="1216551" y="799952"/>
            <a:ext cx="8203884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99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Part 5 Test Evaluation</a:t>
            </a:r>
            <a:endParaRPr/>
          </a:p>
        </p:txBody>
      </p:sp>
      <p:sp>
        <p:nvSpPr>
          <p:cNvPr id="146" name="Google Shape;146;p8"/>
          <p:cNvSpPr txBox="1"/>
          <p:nvPr/>
        </p:nvSpPr>
        <p:spPr>
          <a:xfrm>
            <a:off x="1216551" y="2077572"/>
            <a:ext cx="13300645" cy="4057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載入 Validation 階段所選出的最佳模型，並使用完整 Test Set 進行最終測試</a:t>
            </a:r>
            <a:endParaRPr/>
          </a:p>
        </p:txBody>
      </p:sp>
      <p:sp>
        <p:nvSpPr>
          <p:cNvPr id="147" name="Google Shape;147;p8"/>
          <p:cNvSpPr txBox="1"/>
          <p:nvPr/>
        </p:nvSpPr>
        <p:spPr>
          <a:xfrm>
            <a:off x="1216551" y="3481757"/>
            <a:ext cx="14564351" cy="20821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計算：</a:t>
            </a:r>
            <a:endParaRPr/>
          </a:p>
          <a:p>
            <a:pPr indent="-259082" lvl="1" marL="518165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整體 Test Accuracy</a:t>
            </a:r>
            <a:endParaRPr/>
          </a:p>
          <a:p>
            <a:pPr indent="-259082" lvl="1" marL="518165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數字 0～9 各類別的 Accuracy</a:t>
            </a:r>
            <a:endParaRPr/>
          </a:p>
          <a:p>
            <a:pPr indent="-259082" lvl="1" marL="518165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使用模型對 Test Set 中的圖片進行 Prediction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148" name="Google Shape;148;p8"/>
          <p:cNvSpPr txBox="1"/>
          <p:nvPr/>
        </p:nvSpPr>
        <p:spPr>
          <a:xfrm>
            <a:off x="1216551" y="2874901"/>
            <a:ext cx="13300645" cy="4387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99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工作細項</a:t>
            </a:r>
            <a:endParaRPr/>
          </a:p>
        </p:txBody>
      </p:sp>
      <p:sp>
        <p:nvSpPr>
          <p:cNvPr id="149" name="Google Shape;149;p8"/>
          <p:cNvSpPr txBox="1"/>
          <p:nvPr/>
        </p:nvSpPr>
        <p:spPr>
          <a:xfrm>
            <a:off x="1216551" y="5935397"/>
            <a:ext cx="13300645" cy="4387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99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輸出</a:t>
            </a:r>
            <a:endParaRPr/>
          </a:p>
        </p:txBody>
      </p:sp>
      <p:sp>
        <p:nvSpPr>
          <p:cNvPr id="150" name="Google Shape;150;p8"/>
          <p:cNvSpPr txBox="1"/>
          <p:nvPr/>
        </p:nvSpPr>
        <p:spPr>
          <a:xfrm>
            <a:off x="1216551" y="6545632"/>
            <a:ext cx="16493167" cy="2501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59080" lvl="1" marL="51816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Test Accuracy</a:t>
            </a:r>
            <a:endParaRPr/>
          </a:p>
          <a:p>
            <a:pPr indent="-259080" lvl="1" marL="51816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Class 0～9 各類別 Accuracy</a:t>
            </a:r>
            <a:endParaRPr/>
          </a:p>
          <a:p>
            <a:pPr indent="-259080" lvl="1" marL="51816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隨機顯示 5 張 Test MNIST 圖片，每張圖片須同時顯示：</a:t>
            </a:r>
            <a:endParaRPr/>
          </a:p>
          <a:p>
            <a:pPr indent="-345440" lvl="2" marL="103632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⚬"/>
            </a:pPr>
            <a:r>
              <a:rPr b="0" i="0" lang="en-US" sz="2400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Ground Truth Label</a:t>
            </a:r>
            <a:endParaRPr/>
          </a:p>
          <a:p>
            <a:pPr indent="-345440" lvl="2" marL="103632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⚬"/>
            </a:pPr>
            <a:r>
              <a:rPr b="0" i="0" lang="en-US" sz="2400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Predict Label</a:t>
            </a:r>
            <a:endParaRPr/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5" name="Google Shape;155;p9"/>
          <p:cNvGraphicFramePr/>
          <p:nvPr/>
        </p:nvGraphicFramePr>
        <p:xfrm>
          <a:off x="1435150" y="2028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{EB15869E-E913-401A-BFEA-273718A83E7D}</a:tableStyleId>
              </a:tblPr>
              <a:tblGrid>
                <a:gridCol w="3657600"/>
                <a:gridCol w="3657600"/>
              </a:tblGrid>
              <a:tr h="1245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000000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Part 1. Data Preparation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000000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15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45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000000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Part 2. CNN Model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000000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20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45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000000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Part 3. CNN Training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000000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30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45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000000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Part 4. Training Curve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000000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15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45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000000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Part 5. Test Evaluation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000000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10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6" name="Google Shape;156;p9"/>
          <p:cNvSpPr txBox="1"/>
          <p:nvPr/>
        </p:nvSpPr>
        <p:spPr>
          <a:xfrm>
            <a:off x="1435150" y="537527"/>
            <a:ext cx="2451050" cy="861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99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給分</a:t>
            </a:r>
            <a:endParaRPr b="1" i="0" sz="5199" u="none" cap="none" strike="noStrike">
              <a:solidFill>
                <a:srgbClr val="000000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graphicFrame>
        <p:nvGraphicFramePr>
          <p:cNvPr id="157" name="Google Shape;157;p9"/>
          <p:cNvGraphicFramePr/>
          <p:nvPr/>
        </p:nvGraphicFramePr>
        <p:xfrm>
          <a:off x="9524516" y="2028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{EB15869E-E913-401A-BFEA-273718A83E7D}</a:tableStyleId>
              </a:tblPr>
              <a:tblGrid>
                <a:gridCol w="3657600"/>
                <a:gridCol w="3657600"/>
              </a:tblGrid>
              <a:tr h="1245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000000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Final Test Accuracy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000000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Score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45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000000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≥ 98%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000000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10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45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000000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90% ～ &lt; 98%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000000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8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45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000000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&lt; 90%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000000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5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45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000000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沒結果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000000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0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8" name="Google Shape;158;p9"/>
          <p:cNvSpPr txBox="1"/>
          <p:nvPr/>
        </p:nvSpPr>
        <p:spPr>
          <a:xfrm>
            <a:off x="1435150" y="8616030"/>
            <a:ext cx="13300645" cy="895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99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Part 1 ～ Part 5 以是否完成並輸出題目規定結果為主要評分依據</a:t>
            </a:r>
            <a:endParaRPr/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99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僅有程式碼、但未執行或未顯示結果者，該項目視同未完成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"/>
          <p:cNvSpPr txBox="1"/>
          <p:nvPr/>
        </p:nvSpPr>
        <p:spPr>
          <a:xfrm>
            <a:off x="1435150" y="537527"/>
            <a:ext cx="3670250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99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扣分說明</a:t>
            </a:r>
            <a:endParaRPr b="1" i="0" sz="5199" u="none" cap="none" strike="noStrike">
              <a:solidFill>
                <a:srgbClr val="000000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164" name="Google Shape;164;p10"/>
          <p:cNvSpPr txBox="1"/>
          <p:nvPr/>
        </p:nvSpPr>
        <p:spPr>
          <a:xfrm>
            <a:off x="1435150" y="1471295"/>
            <a:ext cx="16493167" cy="5925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80669" lvl="1" marL="561339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9"/>
              <a:buFont typeface="Arial"/>
              <a:buChar char="•"/>
            </a:pPr>
            <a:r>
              <a:rPr b="0" i="0" lang="en-US" sz="2599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Part 1 ～ Part 5 以是否完成並輸出題目規定結果為主要評分依據</a:t>
            </a:r>
            <a:endParaRPr b="0" i="0" sz="2599" u="none" cap="none" strike="noStrike">
              <a:solidFill>
                <a:srgbClr val="000000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-374226" lvl="2" marL="1122678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9"/>
              <a:buFont typeface="Arial"/>
              <a:buChar char="⚬"/>
            </a:pPr>
            <a:r>
              <a:rPr b="0" i="0" lang="en-US" sz="2599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若題目要求之結果未實際顯示於 Notebook 中，則該項目視同未完成</a:t>
            </a:r>
            <a:endParaRPr b="0" i="0" sz="2599" u="none" cap="none" strike="noStrike">
              <a:solidFill>
                <a:srgbClr val="000000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-374226" lvl="2" marL="1122678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9"/>
              <a:buFont typeface="Arial"/>
              <a:buChar char="⚬"/>
            </a:pPr>
            <a:r>
              <a:rPr b="0" i="0" lang="en-US" sz="2599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僅撰寫程式碼，但未執行</a:t>
            </a:r>
            <a:endParaRPr b="0" i="0" sz="2599" u="none" cap="none" strike="noStrike">
              <a:solidFill>
                <a:srgbClr val="000000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-374226" lvl="2" marL="1122678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9"/>
              <a:buFont typeface="Arial"/>
              <a:buChar char="⚬"/>
            </a:pPr>
            <a:r>
              <a:rPr b="0" i="0" lang="en-US" sz="2599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程式碼已執行，但沒有顯示題目要求的結果</a:t>
            </a:r>
            <a:endParaRPr b="0" i="0" sz="2599" u="none" cap="none" strike="noStrike">
              <a:solidFill>
                <a:srgbClr val="000000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-374226" lvl="2" marL="1122678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9"/>
              <a:buFont typeface="Arial"/>
              <a:buChar char="⚬"/>
            </a:pPr>
            <a:r>
              <a:rPr b="0" i="0" lang="en-US" sz="2599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上述情況(但不限於)皆依「未輸出」處理</a:t>
            </a:r>
            <a:endParaRPr b="0" i="0" sz="2599" u="none" cap="none" strike="noStrike">
              <a:solidFill>
                <a:srgbClr val="000000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-280669" lvl="1" marL="561339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9"/>
              <a:buFont typeface="Arial"/>
              <a:buChar char="•"/>
            </a:pPr>
            <a:r>
              <a:rPr b="0" i="0" lang="en-US" sz="2599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若有完成部分內容，但輸出結果缺少題目要求的項目，則依完成程度給予部分分數</a:t>
            </a:r>
            <a:endParaRPr b="0" i="0" sz="2599" u="none" cap="none" strike="noStrike">
              <a:solidFill>
                <a:srgbClr val="000000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-280669" lvl="1" marL="561339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9"/>
              <a:buFont typeface="Arial"/>
              <a:buChar char="•"/>
            </a:pPr>
            <a:r>
              <a:rPr b="0" i="0" lang="en-US" sz="2599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若 Notebook 無法由上至下正常執行(如下但不限於)，相關項目將依實際可執行與可驗證的內容給分</a:t>
            </a:r>
            <a:endParaRPr b="0" i="0" sz="2599" u="none" cap="none" strike="noStrike">
              <a:solidFill>
                <a:srgbClr val="000000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-374226" lvl="2" marL="1122678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9"/>
              <a:buFont typeface="Arial"/>
              <a:buChar char="⚬"/>
            </a:pPr>
            <a:r>
              <a:rPr b="0" i="0" lang="en-US" sz="2599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Cell 執行順序錯亂</a:t>
            </a:r>
            <a:endParaRPr b="0" i="0" sz="2599" u="none" cap="none" strike="noStrike">
              <a:solidFill>
                <a:srgbClr val="000000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-374226" lvl="2" marL="1122678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9"/>
              <a:buFont typeface="Arial"/>
              <a:buChar char="⚬"/>
            </a:pPr>
            <a:r>
              <a:rPr b="0" i="0" lang="en-US" sz="2599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缺少必要的 Import</a:t>
            </a:r>
            <a:endParaRPr/>
          </a:p>
          <a:p>
            <a:pPr indent="-374226" lvl="2" marL="1122678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9"/>
              <a:buFont typeface="Arial"/>
              <a:buChar char="⚬"/>
            </a:pPr>
            <a:r>
              <a:rPr b="0" i="0" lang="en-US" sz="2599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使用僅存在於個人電腦的檔案路徑</a:t>
            </a:r>
            <a:endParaRPr b="0" i="0" sz="2599" u="none" cap="none" strike="noStrike">
              <a:solidFill>
                <a:srgbClr val="000000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-374226" lvl="2" marL="1122678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9"/>
              <a:buFont typeface="Arial"/>
              <a:buChar char="⚬"/>
            </a:pPr>
            <a:r>
              <a:rPr b="0" i="0" lang="en-US" sz="2599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執行過程發生 Error，導致後續結果無法產生</a:t>
            </a:r>
            <a:endParaRPr b="0" i="0" sz="2599" u="none" cap="none" strike="noStrike">
              <a:solidFill>
                <a:srgbClr val="000000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-280669" lvl="1" marL="561339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9"/>
              <a:buFont typeface="Arial"/>
              <a:buChar char="•"/>
            </a:pPr>
            <a:r>
              <a:rPr b="0" i="0" lang="en-US" sz="2599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若未依題目規定正確區分 Training、Validation 與 Test 資料，將依情況扣分</a:t>
            </a:r>
            <a:endParaRPr b="0" i="0" sz="2599" u="none" cap="none" strike="noStrike">
              <a:solidFill>
                <a:srgbClr val="000000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-280669" lvl="1" marL="561339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9"/>
              <a:buFont typeface="Arial"/>
              <a:buChar char="•"/>
            </a:pPr>
            <a:r>
              <a:rPr b="0" i="0" lang="en-US" sz="2599" u="none" cap="none" strike="noStrike">
                <a:solidFill>
                  <a:srgbClr val="000000"/>
                </a:solidFill>
                <a:latin typeface="Noto Sans TC"/>
                <a:ea typeface="Noto Sans TC"/>
                <a:cs typeface="Noto Sans TC"/>
                <a:sym typeface="Noto Sans TC"/>
              </a:rPr>
              <a:t>未依規定命名檔案，酌予扣分。</a:t>
            </a:r>
            <a:endParaRPr/>
          </a:p>
        </p:txBody>
      </p:sp>
      <p:sp>
        <p:nvSpPr>
          <p:cNvPr id="165" name="Google Shape;165;p10"/>
          <p:cNvSpPr txBox="1"/>
          <p:nvPr/>
        </p:nvSpPr>
        <p:spPr>
          <a:xfrm>
            <a:off x="1435151" y="8619577"/>
            <a:ext cx="17047500" cy="15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80669" lvl="1" marL="561339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2599"/>
              <a:buFont typeface="Arial"/>
              <a:buChar char="•"/>
            </a:pPr>
            <a:r>
              <a:rPr b="1" i="0" lang="en-US" sz="2599" u="none" cap="none" strike="noStrike">
                <a:solidFill>
                  <a:srgbClr val="FF3131"/>
                </a:solidFill>
                <a:latin typeface="Noto Sans TC"/>
                <a:ea typeface="Noto Sans TC"/>
                <a:cs typeface="Noto Sans TC"/>
                <a:sym typeface="Noto Sans TC"/>
              </a:rPr>
              <a:t>本作業已明確列出各項要求與評分標準，未完整達成要求者之部分給分屬助教酌情給分，並以助教判定結果為準，恕不接受事後要求追加分數</a:t>
            </a:r>
            <a:endParaRPr/>
          </a:p>
          <a:p>
            <a:pPr indent="-280669" lvl="1" marL="561339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Clr>
                <a:srgbClr val="FF3131"/>
              </a:buClr>
              <a:buSzPts val="2599"/>
              <a:buFont typeface="Arial"/>
              <a:buChar char="•"/>
            </a:pPr>
            <a:r>
              <a:rPr b="1" i="0" lang="en-US" sz="2599" u="none" cap="none" strike="noStrike">
                <a:solidFill>
                  <a:srgbClr val="FF3131"/>
                </a:solidFill>
                <a:latin typeface="Noto Sans TC"/>
                <a:ea typeface="Noto Sans TC"/>
                <a:cs typeface="Noto Sans TC"/>
                <a:sym typeface="Noto Sans TC"/>
              </a:rPr>
              <a:t>若對任何規範或要求不清楚，請於繳交前主動洽詢助教確認，繳交後不再以規範理解有誤作為追加分數之理由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